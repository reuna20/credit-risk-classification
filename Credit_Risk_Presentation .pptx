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Log. Reg.</c:v>
                  </c:pt>
                  <c:pt idx="1">
                    <c:v>KNN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ANN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0.8652</c:v>
                </c:pt>
                <c:pt idx="1">
                  <c:v>0.8924</c:v>
                </c:pt>
                <c:pt idx="2">
                  <c:v>0.93</c:v>
                </c:pt>
                <c:pt idx="3">
                  <c:v>0.9309</c:v>
                </c:pt>
                <c:pt idx="4">
                  <c:v>0.9157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73575"/>
          </a:solidFill>
          <a:ln w="12700">
            <a:solidFill>
              <a:srgbClr val="2735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273575"/>
          </a:solidFill>
          <a:ln w="12700">
            <a:solidFill>
              <a:srgbClr val="2735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ASSESSMENT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Classification 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1463040" cy="411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Ensemble Machine Learning for Banking Decision 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Reuna Remon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Ahmed Abdellah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assessment is the backbone of banking security and financial stability.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review is subjective, slow, and prone to human error.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0" y="30632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automated, data-driven AI pipeline that predicts loan default risk with high precision.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Automate the decision-making process to improve accuracy, speed, and fairness in loan approvals.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Engineering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three-phase engineering process ensures model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Acquisition, cleaning, encoding &amp; normalization of raw financial records.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multiple algorithms and tuning an ensemble architecture.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Optimization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models and validating results beyond accuracy alone.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note: “We followed a structured, engineering-driven methodology to guarantee the accuracy and reliability of our final model.”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Data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credit_risk_dataset.csv — 32,581 loan applicant records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6916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unrealistic outliers (age 100+, employment length 80+ years); median imputation on employment length &amp; interest rate.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(pandas get_dummies) to convert categorical fields into model-ready inputs.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4290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so all numerical features contribute equally to the model logic.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Strategy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4297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31,679 records after cleaning, split into 25,343 for Training (80%) and 6,336 for Testing (20%) — so the model is judged only on data it has never seen.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used StandardScaler to rescale features so no single variable dominates the model.”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Model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across four model families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model, trained on scaled features.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828800"/>
            <a:ext cx="109728" cy="1691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(k=5)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classification on scaled features.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109728" cy="1691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&amp; XGBoost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— captures complex, non-linear relationships in the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379476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3794760"/>
            <a:ext cx="109728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9776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(MLPClassifier)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4805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with one hidden layer (100 units) for deep pattern recognition.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accuracy across all trained models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93.1%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955280" y="31089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accuracy — XGBoost (Random Forest close behind at 93.0%)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55280" y="3931920"/>
            <a:ext cx="3337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(Random Forest, XGBoost) outperformed the linear baseline and KNN, making them the ideal choice for production deployment.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accuracy: analyzing the Confusion Matrix (Random Forest)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657600" cy="3264408"/>
          </a:xfrm>
          <a:prstGeom prst="roundRect">
            <a:avLst>
              <a:gd name="adj" fmla="val 224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pic>
        <p:nvPicPr>
          <p:cNvPr id="5" name="Image 0" descr="confusion_matrix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383280" cy="2990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1828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accuracy alone isn’t enough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663440" y="2286000"/>
            <a:ext cx="6949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accuracy score can hide costly errors on the minority class.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reveals exactly where the model is confused — not just how often it's right.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banking, a False Negative (approving a risky borrower) is far more costly than a False Positive.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held-out test set (y_test) to confirm the model generalizes to unseen data.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confirmed stability: 92.66% average accuracy, ±0.78% standard deviation across folds.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obstacles encountered — and how we addressed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Skewness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is naturally skewed (income distribution) with some extreme outlier values.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unrealistic outliers and applied StandardScaler so extreme values don't dominate the model.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031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461772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2004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risk memorizing the training data instead of learning general patterns.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4251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17720" y="45262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Relied on Random Forest's ensemble nature — averaging many independent trees naturally reduces any single tree's tendency to overfit.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182880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1031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41248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32004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the model defaulting to the majority class.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4251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45262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per-class metrics via the Confusion Matrix, not accuracy alone.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What Drives the Decision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extracted directly from the trained Random Forest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8138160" cy="3388190"/>
          </a:xfrm>
          <a:prstGeom prst="roundRect">
            <a:avLst>
              <a:gd name="adj" fmla="val 2159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pic>
        <p:nvPicPr>
          <p:cNvPr id="5" name="Image 0" descr="feature_importance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863840" cy="31138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737360"/>
            <a:ext cx="2926080" cy="338819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1540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5400" y="2240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Loan-to-Income Ratio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1540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predictor of default risk in the model.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17127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takeaway: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68880" y="512555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can prioritize reviewing loan-to-income ratio, income, and interest rate first — these three factors drive most of the model's decision, more than applicant age or credit history length.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73575"/>
          </a:solidFill>
          <a:ln w="12700">
            <a:solidFill>
              <a:srgbClr val="2735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Impact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93.1%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model accuracy achieved with XGBoost (Random Forest: 93.0%)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18288" cy="2377440"/>
          </a:xfrm>
          <a:prstGeom prst="rect">
            <a:avLst/>
          </a:prstGeom>
          <a:solidFill>
            <a:srgbClr val="3E4A8C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828800"/>
            <a:ext cx="6492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automated, end-to-end pipeline from raw data to a high-accuracy classifier.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banks with objective, data-driven loan decisions — reducing human bias.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scalable foundation for a modern, production-ready credit scoring system.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system is not just a model — it's a scalable foundation for a modern, secure banking infrastructure.”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2026-07-20T07:38:44Z</dcterms:created>
  <dcterms:modified xsi:type="dcterms:W3CDTF">2026-07-20T07:38:44Z</dcterms:modified>
</cp:coreProperties>
</file>